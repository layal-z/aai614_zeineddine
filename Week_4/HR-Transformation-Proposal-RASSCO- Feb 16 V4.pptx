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rimson Pro Semi Bold" panose="020B0604020202020204" charset="0"/>
      <p:regular r:id="rId11"/>
    </p:embeddedFont>
    <p:embeddedFont>
      <p:font typeface="Heebo" pitchFamily="2" charset="-79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68F020-8AA3-4AB6-9040-4A9152D0F7D1}" v="2" dt="2026-02-16T08:58:15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al Zeineddine" userId="501c0161ab48bec0" providerId="LiveId" clId="{1BC1A5BB-4ACB-49FE-8B7F-26D51890F136}"/>
    <pc:docChg chg="modSld">
      <pc:chgData name="Layal Zeineddine" userId="501c0161ab48bec0" providerId="LiveId" clId="{1BC1A5BB-4ACB-49FE-8B7F-26D51890F136}" dt="2026-02-16T08:58:21.199" v="25" actId="14826"/>
      <pc:docMkLst>
        <pc:docMk/>
      </pc:docMkLst>
      <pc:sldChg chg="addSp modSp mod">
        <pc:chgData name="Layal Zeineddine" userId="501c0161ab48bec0" providerId="LiveId" clId="{1BC1A5BB-4ACB-49FE-8B7F-26D51890F136}" dt="2026-02-16T08:58:21.199" v="25" actId="14826"/>
        <pc:sldMkLst>
          <pc:docMk/>
          <pc:sldMk cId="0" sldId="256"/>
        </pc:sldMkLst>
        <pc:spChg chg="mod">
          <ac:chgData name="Layal Zeineddine" userId="501c0161ab48bec0" providerId="LiveId" clId="{1BC1A5BB-4ACB-49FE-8B7F-26D51890F136}" dt="2026-02-16T08:43:32.399" v="23" actId="20577"/>
          <ac:spMkLst>
            <pc:docMk/>
            <pc:sldMk cId="0" sldId="256"/>
            <ac:spMk id="6" creationId="{00000000-0000-0000-0000-000000000000}"/>
          </ac:spMkLst>
        </pc:spChg>
        <pc:picChg chg="mod">
          <ac:chgData name="Layal Zeineddine" userId="501c0161ab48bec0" providerId="LiveId" clId="{1BC1A5BB-4ACB-49FE-8B7F-26D51890F136}" dt="2026-02-16T08:58:21.199" v="25" actId="14826"/>
          <ac:picMkLst>
            <pc:docMk/>
            <pc:sldMk cId="0" sldId="256"/>
            <ac:picMk id="2" creationId="{00000000-0000-0000-0000-000000000000}"/>
          </ac:picMkLst>
        </pc:picChg>
        <pc:picChg chg="add">
          <ac:chgData name="Layal Zeineddine" userId="501c0161ab48bec0" providerId="LiveId" clId="{1BC1A5BB-4ACB-49FE-8B7F-26D51890F136}" dt="2026-02-16T08:58:12.068" v="24"/>
          <ac:picMkLst>
            <pc:docMk/>
            <pc:sldMk cId="0" sldId="256"/>
            <ac:picMk id="8" creationId="{31BC05EA-5B40-E64E-8485-39A84B5DDB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15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3716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40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 Transformation Proposal: RASSCO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3232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Evolving from Operational Support to Strategic Excellence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8064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for: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RASSCO Leadership Team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244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by: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Infinite for Consultancy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04254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February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3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468999"/>
            <a:ext cx="8510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HR Partnership for Growth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5179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Since 2014, RASSCO has evolved into a prominent Saudi business group with a diversified portfolio spanning multiple industries.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359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success has brought you to an important milestone: evolving your HR function from operational support to strategic partnership.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1694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recommend a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three-stage HR transformation model: Building the Foundation, Optimizations &amp; Rewards, and Culture &amp; Way Forward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This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modular approach 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allows RASSCO to decide how far and how fast to move, depending on business priorities and available focus.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4930"/>
            <a:ext cx="70037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Transformation Roadmap at a Glance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65534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499604"/>
            <a:ext cx="3841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1: Building the Foundation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990023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Backbone: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Establishing core infrastructure and digital readiness.Org Structure, Job Architecture, HRIS Selection, Core Policies, Recruitment Framework.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594062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 Months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365534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499604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2: Optimizations &amp; Rewards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344353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Muscle: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Linking performance and compensation to business results.Grading Framework, Performance Management, System Automation, Employee Relations.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368171" y="629495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 Months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365534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3499604"/>
            <a:ext cx="37867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3: Culture &amp; Way Forward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3990023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Brain: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Transitioning to data-driven growth and sustainable leadership.Engagement Programs, People Analytics, Hiring Permanent HR Manager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715738" y="594062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Months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329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1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793790" y="945713"/>
            <a:ext cx="625054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Building the Foundation (Months 1-6)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1608534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Goal: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 the essential HR framework that supports all future growth.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3790" y="2187654"/>
            <a:ext cx="2444710" cy="2967633"/>
          </a:xfrm>
          <a:prstGeom prst="roundRect">
            <a:avLst>
              <a:gd name="adj" fmla="val 44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93790" y="2164794"/>
            <a:ext cx="2444710" cy="91440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777960" y="19495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20835" y="2068592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75360" y="2584490"/>
            <a:ext cx="2081570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Organizational Design &amp; Structure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75360" y="3147179"/>
            <a:ext cx="2081570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Review current structure across various industries; design reporting lines and span of control guidelines.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5360" y="4293751"/>
            <a:ext cx="208157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Formal Org Charts and Career Path Framework.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49585" y="2187654"/>
            <a:ext cx="2444710" cy="2967633"/>
          </a:xfrm>
          <a:prstGeom prst="roundRect">
            <a:avLst>
              <a:gd name="adj" fmla="val 44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49585" y="2164794"/>
            <a:ext cx="2444710" cy="91440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33756" y="19495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76631" y="2068592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31156" y="2584490"/>
            <a:ext cx="2081570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Job Descriptions &amp; Framework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531156" y="3147179"/>
            <a:ext cx="2081570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Group jobs into families (Operations, Support, etc.) and write bilingual (English/Arabic) JDs.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531156" y="4293751"/>
            <a:ext cx="208157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JD Library and Skills/Knowledge Matrix.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05381" y="2187654"/>
            <a:ext cx="2444710" cy="2967633"/>
          </a:xfrm>
          <a:prstGeom prst="roundRect">
            <a:avLst>
              <a:gd name="adj" fmla="val 44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05381" y="2164794"/>
            <a:ext cx="2444710" cy="91440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89552" y="19495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032427" y="2068592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86951" y="2584490"/>
            <a:ext cx="2081570" cy="74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HRIS Evaluation &amp; Selection (Strategic Priority)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086951" y="3395186"/>
            <a:ext cx="2081570" cy="86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Define requirements for a multi-sector group and conduct vendor demos (2-3 providers).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086951" y="4325779"/>
            <a:ext cx="208157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Vendor Comparison Matrix and Selection Recommendation.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93790" y="5504498"/>
            <a:ext cx="3722608" cy="2071688"/>
          </a:xfrm>
          <a:prstGeom prst="roundRect">
            <a:avLst>
              <a:gd name="adj" fmla="val 52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93790" y="5481638"/>
            <a:ext cx="3722608" cy="91440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416969" y="5266373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559844" y="5385435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75360" y="5901333"/>
            <a:ext cx="212002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 Policies &amp; Compliance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975360" y="6216015"/>
            <a:ext cx="33594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Align all internal policies with the latest Saudi Labor Law.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75360" y="6714649"/>
            <a:ext cx="33594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Complete Employee Handbook and Policy Manual.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627483" y="5504498"/>
            <a:ext cx="3722608" cy="2071688"/>
          </a:xfrm>
          <a:prstGeom prst="roundRect">
            <a:avLst>
              <a:gd name="adj" fmla="val 52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27483" y="5481638"/>
            <a:ext cx="3722608" cy="91440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250662" y="5266373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93537" y="5385435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809053" y="5901333"/>
            <a:ext cx="3359468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Standardized Recruitment &amp; Onboarding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4809053" y="6464022"/>
            <a:ext cx="33594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Map the workflow from requisition to the first 90 days.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809053" y="6962656"/>
            <a:ext cx="33594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Interview Question Banks and Onboarding Checklists.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28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4318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2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6280190" y="1409581"/>
            <a:ext cx="709969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Optimizations &amp; Rewards (Months 7-12)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80190" y="2132528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Goal: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Automate operations and link rewards to performance.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80190" y="265759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80190" y="2923818"/>
            <a:ext cx="3570684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80190" y="3054548"/>
            <a:ext cx="329898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Compensation &amp; Grading Framework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80190" y="3447812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Evaluate job values and create structured salary grades (Min/Mid/Max).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80190" y="4038838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Grading Structure and Salary Progression Guidelines.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80190" y="4770120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80190" y="5036344"/>
            <a:ext cx="3570684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80190" y="5167074"/>
            <a:ext cx="301073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Management System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280190" y="5560338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Design the annual review cycle and train managers on objective goal-setting.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80190" y="6151364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Performance Templates and Manager Training Manuals.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73546" y="265759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273546" y="2923818"/>
            <a:ext cx="3570684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273546" y="3054548"/>
            <a:ext cx="291881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Utilization &amp; Automation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0273546" y="3447812"/>
            <a:ext cx="357068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Go-live with Performance and Compensation modules in the HRIS; set up Self-Service.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273546" y="4276963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Automated Workflows and System Admin Training.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273546" y="500824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273546" y="5274469"/>
            <a:ext cx="3570684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273546" y="5405199"/>
            <a:ext cx="353722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Employee Relations &amp; Exit Management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0273546" y="5798463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Formalize grievance handling and the exit interview process.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273546" y="6389489"/>
            <a:ext cx="35706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Disciplinary Templates and Exit Analysis Tools.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307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Phase 3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793790" y="1105495"/>
            <a:ext cx="645211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Culture &amp; Way Forward (Months 13-16)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1768316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Goal: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Ensure long-term sustainability and data-driven maturity.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3790" y="2109311"/>
            <a:ext cx="2444710" cy="3045976"/>
          </a:xfrm>
          <a:prstGeom prst="roundRect">
            <a:avLst>
              <a:gd name="adj" fmla="val 9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52500" y="2268022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469" y="2398990"/>
            <a:ext cx="214313" cy="214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2500" y="2855357"/>
            <a:ext cx="2127290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Engagement &amp; Culture Programs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52500" y="3418046"/>
            <a:ext cx="2127290" cy="86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Execute engagement surveys and design recognition/wellbeing initiatives.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52500" y="4348639"/>
            <a:ext cx="21272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Actionable Engagement Results and Recognition Framework.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49585" y="2109311"/>
            <a:ext cx="2444710" cy="3045976"/>
          </a:xfrm>
          <a:prstGeom prst="roundRect">
            <a:avLst>
              <a:gd name="adj" fmla="val 9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508296" y="2268022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9264" y="2398990"/>
            <a:ext cx="214313" cy="214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8296" y="2855357"/>
            <a:ext cx="2127290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 Manager Recruitment &amp; Transition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508296" y="3418046"/>
            <a:ext cx="21272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Source and interview the permanent HR Manager to inherit the new system.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508296" y="4132659"/>
            <a:ext cx="21272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Hired HR Manager and Detailed Handover Documentation.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05381" y="2109311"/>
            <a:ext cx="2444710" cy="3045976"/>
          </a:xfrm>
          <a:prstGeom prst="roundRect">
            <a:avLst>
              <a:gd name="adj" fmla="val 9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064091" y="2268022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5060" y="2398990"/>
            <a:ext cx="214313" cy="214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64091" y="2855357"/>
            <a:ext cx="2127290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People Analytics &amp; Reporting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064091" y="3418046"/>
            <a:ext cx="21272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 automated dashboards for turnover, Saudization, and time-to-hire.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064091" y="4132659"/>
            <a:ext cx="212729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Executive HR Dashboard.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93790" y="5266373"/>
            <a:ext cx="3722608" cy="2150031"/>
          </a:xfrm>
          <a:prstGeom prst="roundRect">
            <a:avLst>
              <a:gd name="adj" fmla="val 110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52500" y="5425083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3469" y="5556052"/>
            <a:ext cx="214313" cy="21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2500" y="6012418"/>
            <a:ext cx="27345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Sustainability &amp; Future Roadmap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52500" y="6327100"/>
            <a:ext cx="340518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Final system audit and creation of a long-term strategic people plan.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2500" y="6825734"/>
            <a:ext cx="340518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3-Year Strategic HR Roadmap.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627483" y="5266373"/>
            <a:ext cx="3722608" cy="2150031"/>
          </a:xfrm>
          <a:prstGeom prst="roundRect">
            <a:avLst>
              <a:gd name="adj" fmla="val 110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86193" y="5425083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17162" y="5556052"/>
            <a:ext cx="214313" cy="214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6193" y="6012418"/>
            <a:ext cx="21160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Learning &amp; Development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4786193" y="6327100"/>
            <a:ext cx="340518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Action: Assessing and developing talent and development framework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786193" y="6825734"/>
            <a:ext cx="340518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Deliverable: Development curriculum and training calendars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181165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Investment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3790" y="2230041"/>
            <a:ext cx="695027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Proposed Investment Structure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93790" y="3210520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HR transformation journey is structured across three distinct phases, each with a transparent investment model combining a monthly retainer and a success fee, ensuring our interests are aligned with your outcomes.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93790" y="4113014"/>
            <a:ext cx="13042821" cy="1805821"/>
          </a:xfrm>
          <a:prstGeom prst="roundRect">
            <a:avLst>
              <a:gd name="adj" fmla="val 17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1410" y="4120634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7032" y="4251008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1: Foundation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277678" y="4251008"/>
            <a:ext cx="477262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25,000 SAR x 6 months (150,000 SAR)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488686" y="4251008"/>
            <a:ext cx="21670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 SAR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2094131" y="4251008"/>
            <a:ext cx="151947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250,000 SAR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1410" y="4717494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7032" y="4847868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2: Optimizations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277678" y="4847868"/>
            <a:ext cx="477262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25,000 SAR x 6 months (150,000 SAR)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488686" y="4847868"/>
            <a:ext cx="21670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 SAR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094131" y="4847868"/>
            <a:ext cx="151947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250,000 SAR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01410" y="5314355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17032" y="5444728"/>
            <a:ext cx="28222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 3: Way Forward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277678" y="5444728"/>
            <a:ext cx="477262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25,000 SAR x 4 months (100,000 SAR)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488686" y="5444728"/>
            <a:ext cx="21670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 SAR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2094131" y="5444728"/>
            <a:ext cx="151947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200,000 SAR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93790" y="6149102"/>
            <a:ext cx="1304282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VAT (where appropriate) is charged at the current rate.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Expected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the end of this 16-month transformation, RASSCO will possess a </a:t>
            </a: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unified talent identity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all its companies, powered by a </a:t>
            </a:r>
            <a:r>
              <a:rPr lang="en-US" sz="1750" b="1" dirty="0">
                <a:solidFill>
                  <a:srgbClr val="04318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HRIS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a </a:t>
            </a: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transparent grading system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ensuring full compliance with the Kingdom's regulations.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829</Words>
  <Application>Microsoft Office PowerPoint</Application>
  <PresentationFormat>Custom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Crimson Pro Light</vt:lpstr>
      <vt:lpstr>Heebo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Layal Zeineddine</cp:lastModifiedBy>
  <cp:revision>1</cp:revision>
  <dcterms:created xsi:type="dcterms:W3CDTF">2026-02-16T08:42:01Z</dcterms:created>
  <dcterms:modified xsi:type="dcterms:W3CDTF">2026-02-16T08:58:21Z</dcterms:modified>
</cp:coreProperties>
</file>